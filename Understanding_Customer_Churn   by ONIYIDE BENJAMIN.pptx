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18217"/>
            <a:ext cx="5715000" cy="1980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</a:rPr>
              <a:t>Case Study: </a:t>
            </a:r>
            <a:pPr algn="l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</a:rPr>
              <a:t>Understanding</a:t>
            </a:r>
            <a:pPr algn="l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</a:rPr>
              <a:t>Customer Churn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457200" y="3384156"/>
            <a:ext cx="2443972" cy="441127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BY ONIYIDE BENJAMIN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Introduction to Customer Churn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63966"/>
            <a:ext cx="192881" cy="1928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394" y="1663991"/>
            <a:ext cx="34218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What is Churn?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864394" y="1980102"/>
            <a:ext cx="342185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Churn occurs when customers stop doing business with a company. It is the "leak" in your business bucket.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8752"/>
            <a:ext cx="171450" cy="19288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2963" y="2808777"/>
            <a:ext cx="34432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Why it Matters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842963" y="3124888"/>
            <a:ext cx="344328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Acquiring new customers is 5-25x more expensive than retaining existing ones. High churn kills growth.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53538"/>
            <a:ext cx="150019" cy="19288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531" y="3953563"/>
            <a:ext cx="346471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The Dataset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821531" y="4269674"/>
            <a:ext cx="34647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We analyzed 7,043 customer records with 21 attributes to find patterns in why people leave.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857750" y="1463966"/>
            <a:ext cx="3714750" cy="3177183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344" y="2332825"/>
            <a:ext cx="1071563" cy="8572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57750" y="3304375"/>
            <a:ext cx="3714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4F4F0"/>
                </a:solidFill>
              </a:rPr>
              <a:t>RETAINING CUSTOMERS = SUSTAINABLE GROWTH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The Data Science Journey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63966"/>
            <a:ext cx="1985963" cy="27860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678279"/>
            <a:ext cx="17002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4F00"/>
                </a:solidFill>
              </a:rPr>
              <a:t>01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2415871"/>
            <a:ext cx="170021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4F4F0"/>
                </a:solidFill>
              </a:rPr>
              <a:t>Data Cleaning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992729"/>
            <a:ext cx="17002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4F4F0"/>
                </a:solidFill>
              </a:rPr>
              <a:t>Fixing missing values, correcting data types, and preparing the foundation for analysis.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2528888" y="1463966"/>
            <a:ext cx="1985963" cy="27860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2671763" y="1678279"/>
            <a:ext cx="17002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4F00"/>
                </a:solidFill>
              </a:rPr>
              <a:t>02</a:t>
            </a:r>
            <a:endParaRPr lang="en-US" sz="3294" dirty="0"/>
          </a:p>
        </p:txBody>
      </p:sp>
      <p:sp>
        <p:nvSpPr>
          <p:cNvPr id="10" name="Text 7"/>
          <p:cNvSpPr/>
          <p:nvPr/>
        </p:nvSpPr>
        <p:spPr>
          <a:xfrm>
            <a:off x="2671763" y="2415871"/>
            <a:ext cx="170021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4F4F0"/>
                </a:solidFill>
              </a:rPr>
              <a:t>Exploration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671763" y="2992729"/>
            <a:ext cx="17002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4F4F0"/>
                </a:solidFill>
              </a:rPr>
              <a:t>Visualizing distributions, spotting outliers, and understanding the "shape" of our data.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629150" y="1463966"/>
            <a:ext cx="1985963" cy="27860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772025" y="1678279"/>
            <a:ext cx="17002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4F00"/>
                </a:solidFill>
              </a:rPr>
              <a:t>03</a:t>
            </a:r>
            <a:endParaRPr lang="en-US" sz="3294" dirty="0"/>
          </a:p>
        </p:txBody>
      </p:sp>
      <p:sp>
        <p:nvSpPr>
          <p:cNvPr id="14" name="Text 11"/>
          <p:cNvSpPr/>
          <p:nvPr/>
        </p:nvSpPr>
        <p:spPr>
          <a:xfrm>
            <a:off x="4772025" y="2415871"/>
            <a:ext cx="170021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4F4F0"/>
                </a:solidFill>
              </a:rPr>
              <a:t>Engineering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772025" y="2992729"/>
            <a:ext cx="17002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4F4F0"/>
                </a:solidFill>
              </a:rPr>
              <a:t>Creating new features and encoding categories so the computer can understand them.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6729413" y="1463966"/>
            <a:ext cx="1985963" cy="27860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6872288" y="1678279"/>
            <a:ext cx="170021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4F00"/>
                </a:solidFill>
              </a:rPr>
              <a:t>04</a:t>
            </a:r>
            <a:endParaRPr lang="en-US" sz="3294" dirty="0"/>
          </a:p>
        </p:txBody>
      </p:sp>
      <p:sp>
        <p:nvSpPr>
          <p:cNvPr id="18" name="Text 15"/>
          <p:cNvSpPr/>
          <p:nvPr/>
        </p:nvSpPr>
        <p:spPr>
          <a:xfrm>
            <a:off x="6872288" y="2415871"/>
            <a:ext cx="170021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4F4F0"/>
                </a:solidFill>
              </a:rPr>
              <a:t>Modeling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6872288" y="2992729"/>
            <a:ext cx="17002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4F4F0"/>
                </a:solidFill>
              </a:rPr>
              <a:t>Training a Logistic Regression model to predict which customers are likely to leave.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The Big Picture: Overall Churn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63966"/>
            <a:ext cx="3929063" cy="17430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2006891"/>
            <a:ext cx="370046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4F00"/>
                </a:solidFill>
              </a:rPr>
              <a:t>26.5%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685800" y="2801634"/>
            <a:ext cx="37004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4F4F0"/>
                </a:solidFill>
              </a:rPr>
              <a:t>Total Churn Rate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421354"/>
            <a:ext cx="3929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Our analysis reveals that approximately one-quarter of the customer base has churned. This "baseline" is the starting point for our investigation.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769" y="1522009"/>
            <a:ext cx="3200400" cy="23431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67418" y="3922309"/>
            <a:ext cx="32811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Figure 1: Distribution of Stayers (0) vs. Churners (1)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Tenure and Monthly Charges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28650" y="1764004"/>
            <a:ext cx="3914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Tenure Impact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628650" y="2026537"/>
            <a:ext cx="3914775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Tenure represents how long a customer has stayed. We see a high concentration of new customers, who are often at the highest risk of leaving early.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28650" y="2913757"/>
            <a:ext cx="3914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Monthly Billing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28650" y="3176290"/>
            <a:ext cx="3914775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Monthly charges show a wide spread. Higher bills are frequently associated with higher churn rates as customers seek more affordable alternatives.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28650" y="4063510"/>
            <a:ext cx="3914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Teaching Point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28650" y="4326043"/>
            <a:ext cx="3914775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Understanding the distribution of these variables helps us identify which customer segments to target for retention campaigns.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14875" y="1521116"/>
            <a:ext cx="1914525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948" y="1556835"/>
            <a:ext cx="1875234" cy="107156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07981" y="1521116"/>
            <a:ext cx="1921669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770" y="1549691"/>
            <a:ext cx="1875234" cy="10715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4875" y="2735554"/>
            <a:ext cx="39147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Distribution of Customer Tenure &amp; Monthly Charges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713231"/>
            <a:ext cx="885825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Spotting Outliers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749716"/>
            <a:ext cx="41862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What are Outliers?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285750" y="2065827"/>
            <a:ext cx="41862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Outliers are data points that are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F00"/>
                </a:solidFill>
              </a:rPr>
              <a:t>significantly different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from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rest. They are the "rebels" in our dataset.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85750" y="2751627"/>
            <a:ext cx="41862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Why they Matter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85750" y="3067738"/>
            <a:ext cx="41862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Outliers can skew results or represent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F00"/>
                </a:solidFill>
              </a:rPr>
              <a:t>special cases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like high-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value customers or errors that need investigation.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3753538"/>
            <a:ext cx="41862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The Boxplot Method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285750" y="4069649"/>
            <a:ext cx="41862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Boxplots visualize spread; points beyond the "whiskers" are flagged as potential outliers for review.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72013" y="1549691"/>
            <a:ext cx="4186238" cy="29200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506" y="2010463"/>
            <a:ext cx="3143250" cy="1714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0042" y="3767826"/>
            <a:ext cx="3030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A1A1A"/>
                </a:solidFill>
              </a:rPr>
              <a:t>Visualizing Spread: Total Charges Boxplot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How Features Relate: Correlation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63966"/>
            <a:ext cx="3857625" cy="28182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1801509"/>
            <a:ext cx="2571750" cy="2143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14875" y="1749716"/>
            <a:ext cx="38576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Key Relationship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4714875" y="2065827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Tenure and Total Charges show a clear positive correlation: longer-tenure customers pay more overall.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14875" y="2837352"/>
            <a:ext cx="38576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Multicollinearity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4714875" y="3153463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Highly related features can confuse models, so we watch for redundant signals.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14875" y="3639238"/>
            <a:ext cx="3857625" cy="64293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1" name="Text 7"/>
          <p:cNvSpPr/>
          <p:nvPr/>
        </p:nvSpPr>
        <p:spPr>
          <a:xfrm>
            <a:off x="4800600" y="3710676"/>
            <a:ext cx="36861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4F0"/>
                </a:solidFill>
              </a:rPr>
              <a:t>Teaching Point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4800600" y="3999998"/>
            <a:ext cx="3686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0"/>
                </a:solidFill>
              </a:rPr>
              <a:t>Correlation is not causation — co-movement doesn't prove cause.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Categorical Insights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735429"/>
            <a:ext cx="36757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Gender Neutrality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2012249"/>
            <a:ext cx="367576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Churn rates are remarkably similar between men and women. Gender is not a primary driver of customer loss in this dataset.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2895200"/>
            <a:ext cx="36757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Dependents &amp; Stability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3172020"/>
            <a:ext cx="367576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Customers without dependents show significantly higher churn rates. Those with families tend to be more stable and loyal.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4054971"/>
            <a:ext cx="36757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Teaching Point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28625" y="4331791"/>
            <a:ext cx="367576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Demographic segmentation helps us understand "who" is leaving, allowing for more personalized marketing and retention strategies.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304416" y="1463966"/>
            <a:ext cx="4410959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757" y="1492541"/>
            <a:ext cx="2000250" cy="1000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04416" y="2578391"/>
            <a:ext cx="44109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Churn Rate by Gender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4304416" y="2856998"/>
            <a:ext cx="4410959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757" y="2885573"/>
            <a:ext cx="2000250" cy="1000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04416" y="3971423"/>
            <a:ext cx="44109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Churn Rate by Dependents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Advanced Visualization: PCA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21141"/>
            <a:ext cx="35199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What is PCA?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997962"/>
            <a:ext cx="351991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Principal Component Analysis (PCA) is a technique that "squashes" many variables into just two or three main components while keeping as much information as possible.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3060929"/>
            <a:ext cx="35199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Finding Patterns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337750"/>
            <a:ext cx="351991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By projecting our data into 2D, we can see if "Churners" and "Stayers" naturally separate into different groups or clusters.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4220701"/>
            <a:ext cx="35199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Teaching Point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4497521"/>
            <a:ext cx="351991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Even when data is complex and high-dimensional, we can use mathematical tools to visualize it and find hidden structures.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348590" y="1463966"/>
            <a:ext cx="4223910" cy="357360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014" y="1646997"/>
            <a:ext cx="3929063" cy="30003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5700" y="4704522"/>
            <a:ext cx="21696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PCA 2D Projection of Numeric Features</a:t>
            </a:r>
            <a:endParaRPr lang="en-US" sz="6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075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Teaching the Model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63966"/>
            <a:ext cx="3857625" cy="14680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742950" y="1906879"/>
            <a:ext cx="3514725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4F00"/>
                </a:solidFill>
              </a:rPr>
              <a:t>77%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742950" y="2594465"/>
            <a:ext cx="3514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4F4F0"/>
                </a:solidFill>
              </a:rPr>
              <a:t>Model Accuracy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3288609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Logistic Regression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3579716"/>
            <a:ext cx="38576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We chose this model for its simplicity and interpretability. It calculates the probability of a customer belonging to the "Churn" class based on their features.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4476369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The Challenge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71500" y="4767476"/>
            <a:ext cx="38576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Class imbalance (more stayers than churners) makes accuracy a tricky metric. We use the Confusion Matrix to see exactly where the model makes mistakes.</a:t>
            </a:r>
            <a:endParaRPr lang="en-US" sz="942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3" y="1965034"/>
            <a:ext cx="3486150" cy="2486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8993" y="4536784"/>
            <a:ext cx="25293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Confusion Matrix: Actual vs. Predicted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What Drives Churn?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92591"/>
            <a:ext cx="350691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Top Predictors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183699"/>
            <a:ext cx="350691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Our model identifies specific factors that either "push" customers to leave or "pull" them to stay.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571500" y="2715183"/>
            <a:ext cx="387548" cy="192881"/>
          </a:xfrm>
          <a:prstGeom prst="rect">
            <a:avLst/>
          </a:prstGeom>
          <a:solidFill>
            <a:srgbClr val="FF4F0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715183"/>
            <a:ext cx="387548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F4F0"/>
                </a:solidFill>
              </a:rPr>
              <a:t>Push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1044773" y="2724113"/>
            <a:ext cx="10939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Monthly Charges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71500" y="2993789"/>
            <a:ext cx="387548" cy="192881"/>
          </a:xfrm>
          <a:prstGeom prst="rect">
            <a:avLst/>
          </a:prstGeom>
          <a:solidFill>
            <a:srgbClr val="FF4F00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993789"/>
            <a:ext cx="387548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F4F0"/>
                </a:solidFill>
              </a:rPr>
              <a:t>Push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1044773" y="3002719"/>
            <a:ext cx="11970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Fiber Optic Service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571500" y="3272396"/>
            <a:ext cx="369633" cy="19288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272396"/>
            <a:ext cx="369633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F4F0"/>
                </a:solidFill>
              </a:rPr>
              <a:t>Pull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026858" y="3281325"/>
            <a:ext cx="13304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Long-term Contracts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571500" y="3551002"/>
            <a:ext cx="369633" cy="19288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551002"/>
            <a:ext cx="369633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F4F0"/>
                </a:solidFill>
              </a:rPr>
              <a:t>Pull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026858" y="3559932"/>
            <a:ext cx="7791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High Tenure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4201083"/>
            <a:ext cx="350691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Teaching Point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71500" y="4492191"/>
            <a:ext cx="3506912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Coefficients tell us the strength and direction of an effect. A positive coefficient means as that feature increases, churn becomes more likely.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364162" y="1606841"/>
            <a:ext cx="4208338" cy="342540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800" y="1908637"/>
            <a:ext cx="3929063" cy="250031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77550" y="4494674"/>
            <a:ext cx="338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</a:rPr>
              <a:t>Feature Importance: Logistic Regression Coefficients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661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Summary &amp; Recommendations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28650" y="1578266"/>
            <a:ext cx="8001000" cy="8858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663991"/>
            <a:ext cx="7429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4F4F0"/>
                </a:solidFill>
              </a:rPr>
              <a:t>Our analysis identified the key drivers of customer churn, giving a data-driven foundation for strategic retention.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628650" y="2878429"/>
            <a:ext cx="26098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Focus on Newcomers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28650" y="3169537"/>
            <a:ext cx="260984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Implement a high-touch onboarding program in the first months to reduce early churn.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324216" y="2878429"/>
            <a:ext cx="26098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Pricing Strategy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324216" y="3169537"/>
            <a:ext cx="260984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Review tiers and offer targeted discounts to high-risk, high-value customers.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019781" y="2878429"/>
            <a:ext cx="26098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Contract Incentives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019781" y="3169537"/>
            <a:ext cx="26098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Incentivize month-to-month customers to switch to annual plans with focused offers.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28650" y="5064919"/>
            <a:ext cx="25942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1A1A1A"/>
                </a:solidFill>
              </a:rPr>
              <a:t>Case Study: Customer Churn Analysis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384014" y="5064919"/>
            <a:ext cx="12456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1A1A1A"/>
                </a:solidFill>
              </a:rPr>
              <a:t>2026 Presentation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2026-01-01T01:16:22Z</dcterms:created>
  <dcterms:modified xsi:type="dcterms:W3CDTF">2026-01-01T01:16:22Z</dcterms:modified>
</cp:coreProperties>
</file>